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7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59" autoAdjust="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0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6CCA12-CAEB-4014-A213-7F748EB73A41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B6A552-4202-4549-A167-B4A7869C61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2995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B6A552-4202-4549-A167-B4A7869C61A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204443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9667" y="359794"/>
            <a:ext cx="5799665" cy="168592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56365" y="2186783"/>
            <a:ext cx="78062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Times New Roman"/>
              </a:defRPr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Department of Electronics &amp; Communication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2963332" y="2794889"/>
            <a:ext cx="6096000" cy="377026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 sz="2100" b="0">
                <a:solidFill>
                  <a:srgbClr val="FFFFFF"/>
                </a:solidFill>
                <a:latin typeface="Times New Roman"/>
              </a:defRPr>
            </a:pPr>
            <a:r>
              <a:rPr lang="en-IN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25SC2107E - Machine </a:t>
            </a:r>
            <a:r>
              <a:rPr lang="en-IN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Learning</a:t>
            </a:r>
          </a:p>
          <a:p>
            <a:pPr algn="ctr">
              <a:defRPr sz="2100" b="0">
                <a:solidFill>
                  <a:srgbClr val="FFFFFF"/>
                </a:solidFill>
                <a:latin typeface="Times New Roman"/>
              </a:defRPr>
            </a:pP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>
              <a:defRPr sz="2100" b="0">
                <a:solidFill>
                  <a:srgbClr val="FFFFFF"/>
                </a:solidFill>
                <a:latin typeface="Times New Roman"/>
              </a:defRPr>
            </a:pPr>
            <a:r>
              <a:rPr lang="en-IN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Project Presentation </a:t>
            </a:r>
            <a:endParaRPr lang="en-IN" sz="2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>
              <a:defRPr sz="2100" b="0">
                <a:solidFill>
                  <a:srgbClr val="FFFFFF"/>
                </a:solidFill>
                <a:latin typeface="Times New Roman"/>
              </a:defRPr>
            </a:pPr>
            <a:endParaRPr lang="en-IN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>
              <a:defRPr sz="2100" b="0">
                <a:solidFill>
                  <a:srgbClr val="FFFFFF"/>
                </a:solidFill>
                <a:latin typeface="Times New Roman"/>
              </a:defRPr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Presented by</a:t>
            </a:r>
            <a:r>
              <a:rPr lang="en-I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</a:p>
          <a:p>
            <a:pPr algn="ctr">
              <a:defRPr sz="2100" b="0">
                <a:solidFill>
                  <a:srgbClr val="FFFFFF"/>
                </a:solidFill>
                <a:latin typeface="Times New Roman"/>
              </a:defRPr>
            </a:pP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>
              <a:defRPr sz="2100" b="0">
                <a:solidFill>
                  <a:srgbClr val="FFFFFF"/>
                </a:solidFill>
                <a:latin typeface="Times New Roman"/>
              </a:defRPr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Baggu Lakshmi Sahithi - 2520040111</a:t>
            </a:r>
            <a:r>
              <a:rPr lang="en-IN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/>
            </a:r>
            <a:r>
              <a:rPr lang="en-I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/>
            </a:r>
          </a:p>
          <a:p>
            <a:pPr algn="ctr">
              <a:defRPr sz="2100" b="0">
                <a:solidFill>
                  <a:srgbClr val="FFFFFF"/>
                </a:solidFill>
                <a:latin typeface="Times New Roman"/>
              </a:defRPr>
            </a:pPr>
            <a:r>
              <a:rPr lang="en-I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Vaddamani Pranathi - 2520040104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/>
            </a:r>
            <a:r>
              <a:rPr lang="en-IN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/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/>
            </a:r>
            <a:r>
              <a:rPr lang="en-I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/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>
              <a:defRPr sz="2100" b="0">
                <a:solidFill>
                  <a:srgbClr val="FFFFFF"/>
                </a:solidFill>
                <a:latin typeface="Times New Roman"/>
              </a:defRPr>
            </a:pPr>
            <a:r>
              <a:rPr lang="en-I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Vaddavalli Bhargavi – 2520040048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/>
            </a:r>
            <a:r>
              <a:rPr lang="en-IN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/>
            </a:r>
            <a:r>
              <a:rPr lang="en-I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/>
            </a:r>
          </a:p>
          <a:p>
            <a:pPr algn="ctr">
              <a:defRPr sz="2100" b="0">
                <a:solidFill>
                  <a:srgbClr val="FFFFFF"/>
                </a:solidFill>
                <a:latin typeface="Times New Roman"/>
              </a:defRPr>
            </a:pP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>
              <a:defRPr sz="2100" b="0">
                <a:solidFill>
                  <a:srgbClr val="FFFFFF"/>
                </a:solidFill>
                <a:latin typeface="Times New Roman"/>
              </a:defRPr>
            </a:pPr>
            <a:r>
              <a:rPr lang="en-I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Guide: Mr. N Lava Prasad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7936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16000" y="2438886"/>
            <a:ext cx="1011936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 sz="3100" b="1">
                <a:solidFill>
                  <a:srgbClr val="FFFFFF"/>
                </a:solidFill>
                <a:latin typeface="Times New Roman"/>
              </a:defRPr>
            </a:pP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Fidelity-Aware Safe Reinforcement Learning</a:t>
            </a:r>
            <a:b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for UAV Trajectory and Communication Control</a:t>
            </a:r>
          </a:p>
        </p:txBody>
      </p:sp>
    </p:spTree>
    <p:extLst>
      <p:ext uri="{BB962C8B-B14F-4D97-AF65-F5344CB8AC3E}">
        <p14:creationId xmlns:p14="http://schemas.microsoft.com/office/powerpoint/2010/main" val="3027896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09139" y="370820"/>
            <a:ext cx="357341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IN" sz="3200" b="1" dirty="0" smtClean="0">
                <a:solidFill>
                  <a:srgbClr val="183052"/>
                </a:solidFill>
                <a:latin typeface="Times New Roman"/>
              </a:rPr>
              <a:t> INTRODUCTION</a:t>
            </a:r>
            <a:endParaRPr lang="en-IN" sz="3200" b="1" dirty="0">
              <a:solidFill>
                <a:srgbClr val="183052"/>
              </a:solidFill>
              <a:latin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2020922"/>
            <a:ext cx="10515600" cy="2816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  <a:latin typeface="Times New Roman"/>
              </a:defRPr>
            </a:pPr>
            <a:r>
              <a:rPr dirty="0"/>
              <a:t>• UAVs are widely used in surveillance, delivery, disaster management and wireless communication.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  <a:latin typeface="Times New Roman"/>
              </a:defRPr>
            </a:pPr>
            <a:r>
              <a:rPr dirty="0"/>
              <a:t>• A UAV should reach its destination safely while maintaining reliable communication.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  <a:latin typeface="Times New Roman"/>
              </a:defRPr>
            </a:pPr>
            <a:r>
              <a:rPr dirty="0"/>
              <a:t>• Shortest-path navigation alone may cause collisions, poor communication or unnecessary energy use.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  <a:latin typeface="Times New Roman"/>
              </a:defRPr>
            </a:pPr>
            <a:r>
              <a:rPr dirty="0"/>
              <a:t>• Our project uses reinforcement learning to learn UAV movement and communication power </a:t>
            </a:r>
            <a:r>
              <a:rPr dirty="0" smtClean="0"/>
              <a:t>control</a:t>
            </a:r>
            <a:r>
              <a:rPr lang="en-IN" dirty="0" smtClean="0"/>
              <a:t>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5114" y="381030"/>
            <a:ext cx="488146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IN" sz="3200" b="1" dirty="0" smtClean="0">
                <a:solidFill>
                  <a:srgbClr val="183052"/>
                </a:solidFill>
                <a:latin typeface="Times New Roman"/>
              </a:rPr>
              <a:t>PROBLEM STATEMENT</a:t>
            </a:r>
            <a:endParaRPr lang="en-IN" sz="3200" b="1" dirty="0">
              <a:solidFill>
                <a:srgbClr val="183052"/>
              </a:solidFill>
              <a:latin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38047" y="18389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32323"/>
                </a:solidFill>
                <a:latin typeface="Times New Roman"/>
              </a:defRPr>
            </a:pPr>
            <a:r>
              <a:rPr dirty="0"/>
              <a:t>The main problem is to control a UAV so that it can reach a target while balancing four requirements: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88920"/>
            <a:ext cx="996696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  <a:latin typeface="Times New Roman"/>
              </a:defRPr>
            </a:pPr>
            <a:r>
              <a:rPr dirty="0"/>
              <a:t>• Safe navigation — avoid obstacles and no-fly zones.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  <a:latin typeface="Times New Roman"/>
              </a:defRPr>
            </a:pPr>
            <a:r>
              <a:rPr dirty="0"/>
              <a:t>• Target reaching — reduce the distance to the destination.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  <a:latin typeface="Times New Roman"/>
              </a:defRPr>
            </a:pPr>
            <a:r>
              <a:rPr dirty="0"/>
              <a:t>• Reliable communication — maintain sufficient SINR and communication fidelity.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  <a:latin typeface="Times New Roman"/>
              </a:defRPr>
            </a:pPr>
            <a:r>
              <a:rPr dirty="0"/>
              <a:t>• Energy efficiency — avoid unnecessary movement and communication power </a:t>
            </a:r>
            <a:r>
              <a:rPr dirty="0" smtClean="0"/>
              <a:t>consumption</a:t>
            </a:r>
            <a:r>
              <a:rPr lang="en-IN" dirty="0" smtClean="0"/>
              <a:t>.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822960" y="5257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83052"/>
                </a:solidFill>
                <a:latin typeface="Times New Roman"/>
              </a:defRPr>
            </a:pPr>
            <a:r>
              <a:rPr sz="2000" b="1" lang="en-IN">
                <a:solidFill>
                  <a:srgbClr val="183052"/>
                </a:solidFill>
                <a:latin typeface="Times New Roman"/>
              </a:rPr>
              <a:t>Therefore, the problem is treated as a multi-objective reinforcement learning task.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672713" y="360660"/>
            <a:ext cx="884626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IN" sz="3200" b="1" dirty="0" smtClean="0">
                <a:solidFill>
                  <a:srgbClr val="183052"/>
                </a:solidFill>
                <a:latin typeface="Times New Roman"/>
              </a:rPr>
              <a:t>PROPOSED METHODOLOGY / ALGORITHM</a:t>
            </a:r>
            <a:endParaRPr lang="en-IN" sz="3200" b="1" dirty="0">
              <a:solidFill>
                <a:srgbClr val="183052"/>
              </a:solidFill>
              <a:latin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3000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400" b="1">
                <a:solidFill>
                  <a:srgbClr val="183052"/>
                </a:solidFill>
                <a:latin typeface="Times New Roman"/>
              </a:defRPr>
            </a:pPr>
            <a:r>
              <a:rPr sz="2400" b="1" lang="en-IN">
                <a:solidFill>
                  <a:srgbClr val="183052"/>
                </a:solidFill>
                <a:latin typeface="Times New Roman"/>
              </a:rPr>
              <a:t>PPO — Proximal Policy Optimization (Stable-Baselines3)</a:t>
            </a:r>
          </a:p>
          <a:p>
            <a:pPr algn="ctr">
              <a:spcAft>
                <a:spcPts val="800"/>
              </a:spcAft>
              <a:defRPr sz="1900" b="0">
                <a:solidFill>
                  <a:srgbClr val="232323"/>
                </a:solidFill>
                <a:latin typeface="Times New Roman"/>
              </a:defRPr>
            </a:pPr>
            <a:r>
              <a:rPr sz="1900" b="0" lang="en-IN">
                <a:solidFill>
                  <a:srgbClr val="232323"/>
                </a:solidFill>
                <a:latin typeface="Times New Roman"/>
              </a:rPr>
              <a:t>• Observation (12 values): goal/user direction, distances, power, communication fidelity, energy, trajectory fidelity, obstacle clearance and progress.</a:t>
            </a:r>
          </a:p>
          <a:p>
            <a:pPr algn="ctr">
              <a:spcAft>
                <a:spcPts val="800"/>
              </a:spcAft>
              <a:defRPr sz="1900" b="0">
                <a:solidFill>
                  <a:srgbClr val="232323"/>
                </a:solidFill>
                <a:latin typeface="Times New Roman"/>
              </a:defRPr>
            </a:pPr>
            <a:r>
              <a:rPr sz="1900" b="0" lang="en-IN">
                <a:solidFill>
                  <a:srgbClr val="232323"/>
                </a:solidFill>
                <a:latin typeface="Times New Roman"/>
              </a:rPr>
              <a:t>• Action (3 values): continuous X movement, Y movement and normalized transmit power.</a:t>
            </a:r>
          </a:p>
          <a:p>
            <a:pPr algn="ctr">
              <a:spcAft>
                <a:spcPts val="800"/>
              </a:spcAft>
              <a:defRPr sz="1900" b="0">
                <a:solidFill>
                  <a:srgbClr val="232323"/>
                </a:solidFill>
                <a:latin typeface="Times New Roman"/>
              </a:defRPr>
            </a:pPr>
            <a:r>
              <a:rPr sz="1900" b="0" lang="en-IN">
                <a:solidFill>
                  <a:srgbClr val="232323"/>
                </a:solidFill>
                <a:latin typeface="Times New Roman"/>
              </a:rPr>
              <a:t>• Reward: 12 × goal progress + 1.5 × communication fidelity + 0.8 × trajectory fidelity, minus energy, low-SINR, boundary and unsafe-move penalties, plus a 150 goal bonus.</a:t>
            </a:r>
          </a:p>
          <a:p>
            <a:pPr algn="ctr">
              <a:spcAft>
                <a:spcPts val="800"/>
              </a:spcAft>
              <a:defRPr sz="1900" b="0">
                <a:solidFill>
                  <a:srgbClr val="232323"/>
                </a:solidFill>
                <a:latin typeface="Times New Roman"/>
              </a:defRPr>
            </a:pPr>
            <a:r>
              <a:rPr sz="1900" b="0" lang="en-IN">
                <a:solidFill>
                  <a:srgbClr val="232323"/>
                </a:solidFill>
                <a:latin typeface="Times New Roman"/>
              </a:rPr>
              <a:t>• Safety shield: a move whose end point falls inside a no-fly zone (+1.5 margin) is rejected; positions are clamped to the map boundary.</a:t>
            </a:r>
          </a:p>
          <a:p>
            <a:pPr algn="ctr">
              <a:spcAft>
                <a:spcPts val="800"/>
              </a:spcAft>
              <a:defRPr sz="1900" b="0">
                <a:solidFill>
                  <a:srgbClr val="232323"/>
                </a:solidFill>
                <a:latin typeface="Times New Roman"/>
              </a:defRPr>
            </a:pPr>
            <a:r>
              <a:rPr sz="1900" b="0" lang="en-IN">
                <a:solidFill>
                  <a:srgbClr val="232323"/>
                </a:solidFill>
                <a:latin typeface="Times New Roman"/>
              </a:rPr>
              <a:t>• Note: safety handling is a simulation safeguard, not a guarantee of real-world UAV safety.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553621" y="338549"/>
            <a:ext cx="896283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IN" sz="3200" b="1" dirty="0" smtClean="0">
                <a:solidFill>
                  <a:srgbClr val="183052"/>
                </a:solidFill>
                <a:latin typeface="Times New Roman"/>
              </a:rPr>
              <a:t>PROJECT WORKFLOW / IMPLEMENTATION</a:t>
            </a:r>
            <a:endParaRPr lang="en-IN" sz="3200" b="1" dirty="0">
              <a:solidFill>
                <a:srgbClr val="183052"/>
              </a:solidFill>
              <a:latin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05840" y="167538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83052"/>
                </a:solidFill>
                <a:latin typeface="Times New Roman"/>
              </a:defRPr>
            </a:pPr>
            <a:r>
              <a:rPr sz="2000" b="1" lang="en-IN">
                <a:solidFill>
                  <a:srgbClr val="183052"/>
                </a:solidFill>
                <a:latin typeface="Times New Roman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240280"/>
            <a:ext cx="15087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32323"/>
                </a:solidFill>
                <a:latin typeface="Times New Roman"/>
              </a:defRPr>
            </a:pPr>
            <a:r>
              <a:rPr sz="1600" dirty="0"/>
              <a:t>Create UAV</a:t>
            </a:r>
            <a:br>
              <a:rPr sz="1600" dirty="0"/>
            </a:br>
            <a:r>
              <a:rPr sz="1600" dirty="0"/>
              <a:t>simulation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48840" y="178308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5F5F5F"/>
                </a:solidFill>
                <a:latin typeface="Times New Roman"/>
              </a:defRPr>
            </a:pPr>
            <a:r>
              <a:rPr sz="2200" b="1" lang="en-IN">
                <a:solidFill>
                  <a:srgbClr val="5F5F5F"/>
                </a:solidFill>
                <a:latin typeface="Times New Roman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59887" y="161931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83052"/>
                </a:solidFill>
                <a:latin typeface="Times New Roman"/>
              </a:defRPr>
            </a:pPr>
            <a:r>
              <a:rPr dirty="0"/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39" y="2240280"/>
            <a:ext cx="15087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32323"/>
                </a:solidFill>
                <a:latin typeface="Times New Roman"/>
              </a:defRPr>
            </a:pPr>
            <a:r>
              <a:rPr sz="1600" dirty="0"/>
              <a:t>Define obstacles</a:t>
            </a:r>
            <a:br>
              <a:rPr sz="1600" dirty="0"/>
            </a:br>
            <a:r>
              <a:rPr sz="1600" dirty="0"/>
              <a:t>and safe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59" y="178308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5F5F5F"/>
                </a:solidFill>
                <a:latin typeface="Times New Roman"/>
              </a:defRPr>
            </a:pPr>
            <a:r>
              <a:rPr sz="2200" b="1" lang="en-IN">
                <a:solidFill>
                  <a:srgbClr val="5F5F5F"/>
                </a:solidFill>
                <a:latin typeface="Times New Roman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8" y="1600200"/>
            <a:ext cx="9601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83052"/>
                </a:solidFill>
                <a:latin typeface="Times New Roman"/>
              </a:defRPr>
            </a:pPr>
            <a:r>
              <a:rPr dirty="0"/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59" y="2240280"/>
            <a:ext cx="15087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32323"/>
                </a:solidFill>
                <a:latin typeface="Times New Roman"/>
              </a:defRPr>
            </a:pPr>
            <a:r>
              <a:rPr sz="1600" dirty="0"/>
              <a:t>Calculate SINR</a:t>
            </a:r>
            <a:br>
              <a:rPr sz="1600" dirty="0"/>
            </a:br>
            <a:r>
              <a:rPr sz="1600" dirty="0"/>
              <a:t>and fidelity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79" y="178308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5F5F5F"/>
                </a:solidFill>
                <a:latin typeface="Times New Roman"/>
              </a:defRPr>
            </a:pPr>
            <a:r>
              <a:rPr sz="2200" b="1" lang="en-IN">
                <a:solidFill>
                  <a:srgbClr val="5F5F5F"/>
                </a:solidFill>
                <a:latin typeface="Times New Roman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6696" y="16230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83052"/>
                </a:solidFill>
                <a:latin typeface="Times New Roman"/>
              </a:defRPr>
            </a:pPr>
            <a:r>
              <a:rPr dirty="0"/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9" y="2240280"/>
            <a:ext cx="15087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32323"/>
                </a:solidFill>
                <a:latin typeface="Times New Roman"/>
              </a:defRPr>
            </a:pPr>
            <a:r>
              <a:rPr sz="1600" dirty="0"/>
              <a:t>Train PPO</a:t>
            </a:r>
            <a:br>
              <a:rPr sz="1600" dirty="0"/>
            </a:br>
            <a:r>
              <a:rPr sz="1600" dirty="0"/>
              <a:t>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178308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5F5F5F"/>
                </a:solidFill>
                <a:latin typeface="Times New Roman"/>
              </a:defRPr>
            </a:pPr>
            <a:r>
              <a:rPr sz="2200" b="1" lang="en-IN">
                <a:solidFill>
                  <a:srgbClr val="5F5F5F"/>
                </a:solidFill>
                <a:latin typeface="Times New Roman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3447" y="16230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83052"/>
                </a:solidFill>
                <a:latin typeface="Times New Roman"/>
              </a:defRPr>
            </a:pPr>
            <a:r>
              <a:rPr sz="2000" b="1" lang="en-IN">
                <a:solidFill>
                  <a:srgbClr val="183052"/>
                </a:solidFill>
                <a:latin typeface="Times New Roman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2240280"/>
            <a:ext cx="15087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32323"/>
                </a:solidFill>
                <a:latin typeface="Times New Roman"/>
              </a:defRPr>
            </a:pPr>
            <a:r>
              <a:rPr sz="1600" dirty="0"/>
              <a:t>Evaluate learned</a:t>
            </a:r>
            <a:br>
              <a:rPr sz="1600" dirty="0"/>
            </a:br>
            <a:r>
              <a:rPr sz="1600" dirty="0"/>
              <a:t>trajectory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46920" y="178308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5F5F5F"/>
                </a:solidFill>
                <a:latin typeface="Times New Roman"/>
              </a:defRPr>
            </a:pPr>
            <a:r>
              <a:rPr sz="2200" b="1" lang="en-IN">
                <a:solidFill>
                  <a:srgbClr val="5F5F5F"/>
                </a:solidFill>
                <a:latin typeface="Times New Roman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76053" y="161931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83052"/>
                </a:solidFill>
                <a:latin typeface="Times New Roman"/>
              </a:defRPr>
            </a:pPr>
            <a:r>
              <a:rPr sz="2000" b="1" lang="en-IN">
                <a:solidFill>
                  <a:srgbClr val="183052"/>
                </a:solidFill>
                <a:latin typeface="Times New Roman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2240280"/>
            <a:ext cx="15087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32323"/>
                </a:solidFill>
                <a:latin typeface="Times New Roman"/>
              </a:defRPr>
            </a:pPr>
            <a:r>
              <a:rPr sz="1600" dirty="0"/>
              <a:t>Compare with</a:t>
            </a:r>
            <a:br>
              <a:rPr sz="1600" dirty="0"/>
            </a:br>
            <a:r>
              <a:rPr sz="1600" dirty="0"/>
              <a:t>Greedy baseline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63486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83052"/>
                </a:solidFill>
                <a:latin typeface="Times New Roman"/>
              </a:defRPr>
            </a:pPr>
            <a:r>
              <a:rPr dirty="0"/>
              <a:t>Tools: Python • Gymnasium • Stable-Baselines3 • PPO • </a:t>
            </a:r>
            <a:r>
              <a:rPr dirty="0" err="1"/>
              <a:t>NumPy</a:t>
            </a:r>
            <a:r>
              <a:rPr dirty="0"/>
              <a:t> • Pandas • </a:t>
            </a:r>
            <a:r>
              <a:rPr dirty="0" err="1"/>
              <a:t>Matplotlib</a:t>
            </a:r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914400" y="4605166"/>
            <a:ext cx="10241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32323"/>
                </a:solidFill>
                <a:latin typeface="Times New Roman"/>
              </a:defRPr>
            </a:pPr>
            <a:r>
              <a:rPr dirty="0"/>
              <a:t>Training: PPO for 300,000 time steps (147 iterations)  •  Evaluation: 20 episodes against a greedy baseline</a:t>
            </a:r>
            <a:r>
              <a:rPr dirty="0" smtClean="0"/>
              <a:t/>
            </a:r>
            <a:r>
              <a:rPr lang="en-IN" dirty="0" smtClean="0"/>
              <a:t/>
            </a:r>
            <a:r>
              <a:rPr dirty="0" smtClean="0"/>
              <a:t/>
            </a:r>
            <a:r>
              <a:rPr lang="en-IN" smtClean="0"/>
              <a:t/>
            </a:r>
            <a:r>
              <a:rPr smtClean="0"/>
              <a:t/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149189" y="338108"/>
            <a:ext cx="789331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IN" sz="3200" b="1" dirty="0" smtClean="0">
                <a:solidFill>
                  <a:srgbClr val="183052"/>
                </a:solidFill>
                <a:latin typeface="Times New Roman"/>
              </a:rPr>
              <a:t>SIMULATION / EXPERIMENTAL SETUP</a:t>
            </a:r>
            <a:endParaRPr lang="en-IN" sz="3200" b="1" dirty="0">
              <a:solidFill>
                <a:srgbClr val="183052"/>
              </a:solidFill>
              <a:latin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500000"/>
            <a:ext cx="1051560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 sz="1800" lang="en-IN">
                <a:solidFill>
                  <a:srgbClr val="232323"/>
                </a:solidFill>
                <a:latin typeface="Times New Roman"/>
              </a:rPr>
              <a:t>• 2-D UAV simulation environment with a 100 × 100 map.</a:t>
            </a:r>
          </a:p>
          <a:p>
            <a:pPr>
              <a:spcAft>
                <a:spcPts val="9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 sz="1800" lang="en-IN">
                <a:solidFill>
                  <a:srgbClr val="232323"/>
                </a:solidFill>
                <a:latin typeface="Times New Roman"/>
              </a:rPr>
              <a:t>• Start: (10, 10); destination: (90, 90); ground user: (75, 65).</a:t>
            </a:r>
          </a:p>
          <a:p>
            <a:pPr>
              <a:spcAft>
                <a:spcPts val="9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 sz="1800" lang="en-IN">
                <a:solidFill>
                  <a:srgbClr val="232323"/>
                </a:solidFill>
                <a:latin typeface="Times New Roman"/>
              </a:rPr>
              <a:t>• Three circular no-fly zones and a 7-waypoint safe reference route.</a:t>
            </a:r>
          </a:p>
          <a:p>
            <a:pPr>
              <a:spcAft>
                <a:spcPts val="9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 sz="1800" lang="en-IN">
                <a:solidFill>
                  <a:srgbClr val="232323"/>
                </a:solidFill>
                <a:latin typeface="Times New Roman"/>
              </a:rPr>
              <a:t>• Episode limit: 160 steps; goal tolerance: 5 units; initial energy: 100.</a:t>
            </a:r>
          </a:p>
          <a:p>
            <a:pPr>
              <a:spcAft>
                <a:spcPts val="9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 sz="1800" lang="en-IN">
                <a:solidFill>
                  <a:srgbClr val="232323"/>
                </a:solidFill>
                <a:latin typeface="Times New Roman"/>
              </a:rPr>
              <a:t>• PPO: MlpPolicy (2 × 128 units), 300,000 time steps, seed 42.</a:t>
            </a:r>
          </a:p>
          <a:p>
            <a:pPr>
              <a:spcAft>
                <a:spcPts val="9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 sz="1800" lang="en-IN">
                <a:solidFill>
                  <a:srgbClr val="232323"/>
                </a:solidFill>
                <a:latin typeface="Times New Roman"/>
              </a:rPr>
              <a:t>• Evaluation: 20 episodes of the fixed scenario for PPO and a straight-line greedy baseline.</a:t>
            </a:r>
          </a:p>
          <a:p>
            <a:pPr>
              <a:spcAft>
                <a:spcPts val="9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 sz="1800" lang="en-IN">
                <a:solidFill>
                  <a:srgbClr val="232323"/>
                </a:solidFill>
                <a:latin typeface="Times New Roman"/>
              </a:rPr>
              <a:t>• The scenario is fixed, so repeated episodes are identical and do not test generalization.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93927" y="375345"/>
            <a:ext cx="840383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IN" sz="3200" b="1" dirty="0" smtClean="0">
                <a:solidFill>
                  <a:srgbClr val="183052"/>
                </a:solidFill>
                <a:latin typeface="Times New Roman"/>
              </a:rPr>
              <a:t>SIMULATION / EXPERIMENTAL RESULTS</a:t>
            </a:r>
            <a:endParaRPr lang="en-IN" sz="3200" b="1" dirty="0">
              <a:solidFill>
                <a:srgbClr val="183052"/>
              </a:solidFill>
              <a:latin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97280" y="12500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3052"/>
                </a:solidFill>
                <a:latin typeface="Times New Roman"/>
              </a:defRPr>
            </a:pPr>
            <a:r>
              <a:rPr sz="1800" b="1" lang="en-IN">
                <a:solidFill>
                  <a:srgbClr val="183052"/>
                </a:solidFill>
                <a:latin typeface="Times New Roman"/>
              </a:rPr>
              <a:t>PPO VS GREEDY BASELINE (20 EVALUATION EPISODES, FIXED SCENARIO)</a:t>
            </a:r>
          </a:p>
        </p:txBody>
      </p:sp>
      <p:graphicFrame>
        <p:nvGraphicFramePr>
          <p:cNvPr id="5" name="Results table"/>
          <p:cNvGraphicFramePr>
            <a:graphicFrameLocks noGrp="1"/>
          </p:cNvGraphicFramePr>
          <p:nvPr/>
        </p:nvGraphicFramePr>
        <p:xfrm>
          <a:off x="1500000" y="1850000"/>
          <a:ext cx="9190000" cy="33300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4300000"/>
                <a:gridCol w="1600000"/>
                <a:gridCol w="1700000"/>
                <a:gridCol w="1590000"/>
              </a:tblGrid>
              <a:tr h="3700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</a:rPr>
                        <a:t>Metric</a:t>
                      </a:r>
                    </a:p>
                  </a:txBody>
                  <a:tcPr anchor="ctr" marT="30000" marB="30000">
                    <a:solidFill>
                      <a:srgbClr val="1830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</a:rPr>
                        <a:t>PPO</a:t>
                      </a:r>
                    </a:p>
                  </a:txBody>
                  <a:tcPr anchor="ctr" marT="30000" marB="30000">
                    <a:solidFill>
                      <a:srgbClr val="1830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</a:rPr>
                        <a:t>Greedy</a:t>
                      </a:r>
                    </a:p>
                  </a:txBody>
                  <a:tcPr anchor="ctr" marT="30000" marB="30000">
                    <a:solidFill>
                      <a:srgbClr val="1830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</a:rPr>
                        <a:t>Better</a:t>
                      </a:r>
                    </a:p>
                  </a:txBody>
                  <a:tcPr anchor="ctr" marT="30000" marB="30000">
                    <a:solidFill>
                      <a:srgbClr val="183052"/>
                    </a:solidFill>
                  </a:tcPr>
                </a:tc>
              </a:tr>
              <a:tr h="370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32323"/>
                          </a:solidFill>
                          <a:latin typeface="Times New Roman"/>
                        </a:rPr>
                        <a:t>Average reward</a:t>
                      </a:r>
                    </a:p>
                  </a:txBody>
                  <a:tcPr anchor="ctr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323"/>
                          </a:solidFill>
                          <a:latin typeface="Times New Roman"/>
                        </a:rPr>
                        <a:t>1518.20</a:t>
                      </a:r>
                    </a:p>
                  </a:txBody>
                  <a:tcPr anchor="ctr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323"/>
                          </a:solidFill>
                          <a:latin typeface="Times New Roman"/>
                        </a:rPr>
                        <a:t>−4039.53</a:t>
                      </a:r>
                    </a:p>
                  </a:txBody>
                  <a:tcPr anchor="ctr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323"/>
                          </a:solidFill>
                          <a:latin typeface="Times New Roman"/>
                        </a:rPr>
                        <a:t>PPO</a:t>
                      </a:r>
                    </a:p>
                  </a:txBody>
                  <a:tcPr anchor="ctr" marT="30000" marB="30000">
                    <a:solidFill>
                      <a:srgbClr val="FFFFFF"/>
                    </a:solidFill>
                  </a:tcPr>
                </a:tc>
              </a:tr>
              <a:tr h="370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32323"/>
                          </a:solidFill>
                          <a:latin typeface="Times New Roman"/>
                        </a:rPr>
                        <a:t>Goal success rate</a:t>
                      </a:r>
                    </a:p>
                  </a:txBody>
                  <a:tcPr anchor="ctr" marT="30000" marB="300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323"/>
                          </a:solidFill>
                          <a:latin typeface="Times New Roman"/>
                        </a:rPr>
                        <a:t>100 %</a:t>
                      </a:r>
                    </a:p>
                  </a:txBody>
                  <a:tcPr anchor="ctr" marT="30000" marB="300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323"/>
                          </a:solidFill>
                          <a:latin typeface="Times New Roman"/>
                        </a:rPr>
                        <a:t>0 %</a:t>
                      </a:r>
                    </a:p>
                  </a:txBody>
                  <a:tcPr anchor="ctr" marT="30000" marB="300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323"/>
                          </a:solidFill>
                          <a:latin typeface="Times New Roman"/>
                        </a:rPr>
                        <a:t>PPO</a:t>
                      </a:r>
                    </a:p>
                  </a:txBody>
                  <a:tcPr anchor="ctr" marT="30000" marB="30000">
                    <a:solidFill>
                      <a:srgbClr val="F2F5F9"/>
                    </a:solidFill>
                  </a:tcPr>
                </a:tc>
              </a:tr>
              <a:tr h="370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32323"/>
                          </a:solidFill>
                          <a:latin typeface="Times New Roman"/>
                        </a:rPr>
                        <a:t>Final goal distance</a:t>
                      </a:r>
                    </a:p>
                  </a:txBody>
                  <a:tcPr anchor="ctr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323"/>
                          </a:solidFill>
                          <a:latin typeface="Times New Roman"/>
                        </a:rPr>
                        <a:t>4.85</a:t>
                      </a:r>
                    </a:p>
                  </a:txBody>
                  <a:tcPr anchor="ctr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323"/>
                          </a:solidFill>
                          <a:latin typeface="Times New Roman"/>
                        </a:rPr>
                        <a:t>90.64</a:t>
                      </a:r>
                    </a:p>
                  </a:txBody>
                  <a:tcPr anchor="ctr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323"/>
                          </a:solidFill>
                          <a:latin typeface="Times New Roman"/>
                        </a:rPr>
                        <a:t>PPO</a:t>
                      </a:r>
                    </a:p>
                  </a:txBody>
                  <a:tcPr anchor="ctr" marT="30000" marB="30000">
                    <a:solidFill>
                      <a:srgbClr val="FFFFFF"/>
                    </a:solidFill>
                  </a:tcPr>
                </a:tc>
              </a:tr>
              <a:tr h="370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32323"/>
                          </a:solidFill>
                          <a:latin typeface="Times New Roman"/>
                        </a:rPr>
                        <a:t>Average SINR (dB)</a:t>
                      </a:r>
                    </a:p>
                  </a:txBody>
                  <a:tcPr anchor="ctr" marT="30000" marB="300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323"/>
                          </a:solidFill>
                          <a:latin typeface="Times New Roman"/>
                        </a:rPr>
                        <a:t>13.20</a:t>
                      </a:r>
                    </a:p>
                  </a:txBody>
                  <a:tcPr anchor="ctr" marT="30000" marB="300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323"/>
                          </a:solidFill>
                          <a:latin typeface="Times New Roman"/>
                        </a:rPr>
                        <a:t>10.00</a:t>
                      </a:r>
                    </a:p>
                  </a:txBody>
                  <a:tcPr anchor="ctr" marT="30000" marB="300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323"/>
                          </a:solidFill>
                          <a:latin typeface="Times New Roman"/>
                        </a:rPr>
                        <a:t>PPO</a:t>
                      </a:r>
                    </a:p>
                  </a:txBody>
                  <a:tcPr anchor="ctr" marT="30000" marB="30000">
                    <a:solidFill>
                      <a:srgbClr val="F2F5F9"/>
                    </a:solidFill>
                  </a:tcPr>
                </a:tc>
              </a:tr>
              <a:tr h="370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32323"/>
                          </a:solidFill>
                          <a:latin typeface="Times New Roman"/>
                        </a:rPr>
                        <a:t>Communication fidelity</a:t>
                      </a:r>
                    </a:p>
                  </a:txBody>
                  <a:tcPr anchor="ctr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323"/>
                          </a:solidFill>
                          <a:latin typeface="Times New Roman"/>
                        </a:rPr>
                        <a:t>0.933</a:t>
                      </a:r>
                    </a:p>
                  </a:txBody>
                  <a:tcPr anchor="ctr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323"/>
                          </a:solidFill>
                          <a:latin typeface="Times New Roman"/>
                        </a:rPr>
                        <a:t>0.841</a:t>
                      </a:r>
                    </a:p>
                  </a:txBody>
                  <a:tcPr anchor="ctr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323"/>
                          </a:solidFill>
                          <a:latin typeface="Times New Roman"/>
                        </a:rPr>
                        <a:t>PPO</a:t>
                      </a:r>
                    </a:p>
                  </a:txBody>
                  <a:tcPr anchor="ctr" marT="30000" marB="30000">
                    <a:solidFill>
                      <a:srgbClr val="FFFFFF"/>
                    </a:solidFill>
                  </a:tcPr>
                </a:tc>
              </a:tr>
              <a:tr h="370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32323"/>
                          </a:solidFill>
                          <a:latin typeface="Times New Roman"/>
                        </a:rPr>
                        <a:t>Trajectory fidelity</a:t>
                      </a:r>
                    </a:p>
                  </a:txBody>
                  <a:tcPr anchor="ctr" marT="30000" marB="300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323"/>
                          </a:solidFill>
                          <a:latin typeface="Times New Roman"/>
                        </a:rPr>
                        <a:t>0.125</a:t>
                      </a:r>
                    </a:p>
                  </a:txBody>
                  <a:tcPr anchor="ctr" marT="30000" marB="300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323"/>
                          </a:solidFill>
                          <a:latin typeface="Times New Roman"/>
                        </a:rPr>
                        <a:t>0.152</a:t>
                      </a:r>
                    </a:p>
                  </a:txBody>
                  <a:tcPr anchor="ctr" marT="30000" marB="300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323"/>
                          </a:solidFill>
                          <a:latin typeface="Times New Roman"/>
                        </a:rPr>
                        <a:t>Greedy</a:t>
                      </a:r>
                    </a:p>
                  </a:txBody>
                  <a:tcPr anchor="ctr" marT="30000" marB="30000">
                    <a:solidFill>
                      <a:srgbClr val="F2F5F9"/>
                    </a:solidFill>
                  </a:tcPr>
                </a:tc>
              </a:tr>
              <a:tr h="370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32323"/>
                          </a:solidFill>
                          <a:latin typeface="Times New Roman"/>
                        </a:rPr>
                        <a:t>Final energy</a:t>
                      </a:r>
                    </a:p>
                  </a:txBody>
                  <a:tcPr anchor="ctr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323"/>
                          </a:solidFill>
                          <a:latin typeface="Times New Roman"/>
                        </a:rPr>
                        <a:t>86.69</a:t>
                      </a:r>
                    </a:p>
                  </a:txBody>
                  <a:tcPr anchor="ctr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323"/>
                          </a:solidFill>
                          <a:latin typeface="Times New Roman"/>
                        </a:rPr>
                        <a:t>63.96</a:t>
                      </a:r>
                    </a:p>
                  </a:txBody>
                  <a:tcPr anchor="ctr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323"/>
                          </a:solidFill>
                          <a:latin typeface="Times New Roman"/>
                        </a:rPr>
                        <a:t>PPO</a:t>
                      </a:r>
                    </a:p>
                  </a:txBody>
                  <a:tcPr anchor="ctr" marT="30000" marB="30000">
                    <a:solidFill>
                      <a:srgbClr val="FFFFFF"/>
                    </a:solidFill>
                  </a:tcPr>
                </a:tc>
              </a:tr>
              <a:tr h="370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32323"/>
                          </a:solidFill>
                          <a:latin typeface="Times New Roman"/>
                        </a:rPr>
                        <a:t>Collision attempts (rejected moves)</a:t>
                      </a:r>
                    </a:p>
                  </a:txBody>
                  <a:tcPr anchor="ctr" marT="30000" marB="300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323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anchor="ctr" marT="30000" marB="300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323"/>
                          </a:solidFill>
                          <a:latin typeface="Times New Roman"/>
                        </a:rPr>
                        <a:t>151</a:t>
                      </a:r>
                    </a:p>
                  </a:txBody>
                  <a:tcPr anchor="ctr" marT="30000" marB="300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323"/>
                          </a:solidFill>
                          <a:latin typeface="Times New Roman"/>
                        </a:rPr>
                        <a:t>PPO</a:t>
                      </a:r>
                    </a:p>
                  </a:txBody>
                  <a:tcPr anchor="ctr" marT="30000" marB="30000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Results note"/>
          <p:cNvSpPr txBox="1"/>
          <p:nvPr/>
        </p:nvSpPr>
        <p:spPr>
          <a:xfrm>
            <a:off x="1500000" y="5300000"/>
            <a:ext cx="919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i="0">
                <a:solidFill>
                  <a:srgbClr val="232323"/>
                </a:solidFill>
                <a:latin typeface="Times New Roman"/>
              </a:rPr>
              <a:t>PPO reached the goal in 46 steps in all 20 episodes; the greedy controller is blocked by the first no-fly zone (151 of 160 moves rejected).</a:t>
            </a:r>
          </a:p>
          <a:p>
            <a:pPr>
              <a:spcAft>
                <a:spcPts val="400"/>
              </a:spcAft>
            </a:pPr>
            <a:r>
              <a:rPr sz="1400" i="1">
                <a:solidFill>
                  <a:srgbClr val="232323"/>
                </a:solidFill>
                <a:latin typeface="Times New Roman"/>
              </a:rPr>
              <a:t>Results hold for one fixed scenario (identical episodes): no generalization is claimed.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231247" y="283684"/>
            <a:ext cx="369902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700" b="1">
                <a:solidFill>
                  <a:srgbClr val="1F3A5F"/>
                </a:solidFill>
                <a:latin typeface="Times New Roman"/>
              </a:rPr>
              <a:t>OUTPUT GRAPHS</a:t>
            </a:r>
            <a:endParaRPr lang="en-IN" sz="3200" b="1" dirty="0">
              <a:solidFill>
                <a:srgbClr val="183052"/>
              </a:solidFill>
              <a:latin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795528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latin typeface="Times New Roman"/>
              </a:defRPr>
            </a:pPr>
            <a:r>
              <a:rPr sz="1000" i="1" lang="en-IN">
                <a:latin typeface="Times New Roman"/>
              </a:rPr>
              <a:t>Plots from the final notebook run: training progress, communication fidelity, energy use and the PPO vs greedy comparison.</a:t>
            </a:r>
          </a:p>
        </p:txBody>
      </p:sp>
      <p:pic>
        <p:nvPicPr>
          <p:cNvPr id="5" name="Picture 4" descr="fig_train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1220724"/>
            <a:ext cx="5440680" cy="2176272"/>
          </a:xfrm>
          <a:prstGeom prst="rect">
            <a:avLst/>
          </a:prstGeom>
        </p:spPr>
      </p:pic>
      <p:pic>
        <p:nvPicPr>
          <p:cNvPr id="6" name="Picture 5" descr="fig2_c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4429" y="1143000"/>
            <a:ext cx="4579101" cy="2331720"/>
          </a:xfrm>
          <a:prstGeom prst="rect">
            <a:avLst/>
          </a:prstGeom>
        </p:spPr>
      </p:pic>
      <p:pic>
        <p:nvPicPr>
          <p:cNvPr id="7" name="Picture 6" descr="fig2_energ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1307" y="3703320"/>
            <a:ext cx="4603906" cy="2331720"/>
          </a:xfrm>
          <a:prstGeom prst="rect">
            <a:avLst/>
          </a:prstGeom>
        </p:spPr>
      </p:pic>
      <p:pic>
        <p:nvPicPr>
          <p:cNvPr id="8" name="Picture 7" descr="fig2_cm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32226" y="3703320"/>
            <a:ext cx="4103507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16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35088" y="325408"/>
            <a:ext cx="952151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3200" b="1" dirty="0" smtClean="0">
                <a:solidFill>
                  <a:srgbClr val="183052"/>
                </a:solidFill>
                <a:latin typeface="Times New Roman"/>
              </a:rPr>
              <a:t>PROJECT STATUS AND FUTURE WORK</a:t>
            </a:r>
            <a:endParaRPr lang="en-US" sz="3200" b="1" dirty="0">
              <a:solidFill>
                <a:srgbClr val="183052"/>
              </a:solidFill>
              <a:latin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5417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83052"/>
                </a:solidFill>
                <a:latin typeface="Times New Roman"/>
              </a:defRPr>
            </a:pPr>
            <a:r>
              <a:rPr sz="2200" b="1" lang="en-IN">
                <a:solidFill>
                  <a:srgbClr val="183052"/>
                </a:solidFill>
                <a:latin typeface="Times New Roman"/>
              </a:rPr>
              <a:t>COMPLETED IN THE PROJECT</a:t>
            </a:r>
          </a:p>
          <a:p>
            <a:pPr>
              <a:spcAft>
                <a:spcPts val="700"/>
              </a:spcAft>
              <a:defRPr sz="1600">
                <a:solidFill>
                  <a:srgbClr val="232323"/>
                </a:solidFill>
                <a:latin typeface="Times New Roman"/>
              </a:defRPr>
            </a:pPr>
            <a:r>
              <a:rPr sz="1600" lang="en-IN">
                <a:solidFill>
                  <a:srgbClr val="232323"/>
                </a:solidFill>
                <a:latin typeface="Times New Roman"/>
              </a:rPr>
              <a:t>• 100 × 100 2-D UAV simulation with three no-fly zones</a:t>
            </a:r>
          </a:p>
          <a:p>
            <a:pPr>
              <a:spcAft>
                <a:spcPts val="700"/>
              </a:spcAft>
              <a:defRPr sz="1600">
                <a:solidFill>
                  <a:srgbClr val="232323"/>
                </a:solidFill>
                <a:latin typeface="Times New Roman"/>
              </a:defRPr>
            </a:pPr>
            <a:r>
              <a:rPr sz="1600" lang="en-IN">
                <a:solidFill>
                  <a:srgbClr val="232323"/>
                </a:solidFill>
                <a:latin typeface="Times New Roman"/>
              </a:rPr>
              <a:t>• 12-element observation; continuous movement and power actions</a:t>
            </a:r>
          </a:p>
          <a:p>
            <a:pPr>
              <a:spcAft>
                <a:spcPts val="700"/>
              </a:spcAft>
              <a:defRPr sz="1600">
                <a:solidFill>
                  <a:srgbClr val="232323"/>
                </a:solidFill>
                <a:latin typeface="Times New Roman"/>
              </a:defRPr>
            </a:pPr>
            <a:r>
              <a:rPr sz="1600" lang="en-IN">
                <a:solidFill>
                  <a:srgbClr val="232323"/>
                </a:solidFill>
                <a:latin typeface="Times New Roman"/>
              </a:rPr>
              <a:t>• Safety filter (end-point check, 1.5 margin) and boundary handling</a:t>
            </a:r>
          </a:p>
          <a:p>
            <a:pPr>
              <a:spcAft>
                <a:spcPts val="700"/>
              </a:spcAft>
              <a:defRPr sz="1600">
                <a:solidFill>
                  <a:srgbClr val="232323"/>
                </a:solidFill>
                <a:latin typeface="Times New Roman"/>
              </a:defRPr>
            </a:pPr>
            <a:r>
              <a:rPr sz="1600" lang="en-IN">
                <a:solidFill>
                  <a:srgbClr val="232323"/>
                </a:solidFill>
                <a:latin typeface="Times New Roman"/>
              </a:rPr>
              <a:t>• SINR, communication-fidelity and trajectory-fidelity models</a:t>
            </a:r>
          </a:p>
          <a:p>
            <a:pPr>
              <a:spcAft>
                <a:spcPts val="700"/>
              </a:spcAft>
              <a:defRPr sz="1600">
                <a:solidFill>
                  <a:srgbClr val="232323"/>
                </a:solidFill>
                <a:latin typeface="Times New Roman"/>
              </a:defRPr>
            </a:pPr>
            <a:r>
              <a:rPr sz="1600" lang="en-IN">
                <a:solidFill>
                  <a:srgbClr val="232323"/>
                </a:solidFill>
                <a:latin typeface="Times New Roman"/>
              </a:rPr>
              <a:t>• PPO trained for 300,000 steps: goal reached in all 20 evaluation episodes</a:t>
            </a:r>
          </a:p>
          <a:p>
            <a:pPr>
              <a:spcAft>
                <a:spcPts val="700"/>
              </a:spcAft>
              <a:defRPr sz="1600">
                <a:solidFill>
                  <a:srgbClr val="232323"/>
                </a:solidFill>
                <a:latin typeface="Times New Roman"/>
              </a:defRPr>
            </a:pPr>
            <a:r>
              <a:rPr sz="1600" lang="en-IN">
                <a:solidFill>
                  <a:srgbClr val="232323"/>
                </a:solidFill>
                <a:latin typeface="Times New Roman"/>
              </a:rPr>
              <a:t>• Greedy baseline comparison, result plots and live simulation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5316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83052"/>
                </a:solidFill>
                <a:latin typeface="Times New Roman"/>
              </a:defRPr>
            </a:pPr>
            <a:r>
              <a:rPr sz="2200" b="1">
                <a:latin typeface="Times New Roman"/>
              </a:rPr>
              <a:t>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318004"/>
            <a:ext cx="4754880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32323"/>
                </a:solidFill>
                <a:latin typeface="Times New Roman"/>
              </a:defRPr>
            </a:pPr>
            <a:r>
              <a:rPr sz="1600" lang="en-IN">
                <a:solidFill>
                  <a:srgbClr val="232323"/>
                </a:solidFill>
                <a:latin typeface="Times New Roman"/>
              </a:rPr>
              <a:t>• Randomized start, goal, user and obstacle positions</a:t>
            </a:r>
          </a:p>
          <a:p>
            <a:pPr>
              <a:spcAft>
                <a:spcPts val="700"/>
              </a:spcAft>
              <a:defRPr sz="1600">
                <a:solidFill>
                  <a:srgbClr val="232323"/>
                </a:solidFill>
                <a:latin typeface="Times New Roman"/>
              </a:defRPr>
            </a:pPr>
            <a:r>
              <a:rPr sz="1600" lang="en-IN">
                <a:solidFill>
                  <a:srgbClr val="232323"/>
                </a:solidFill>
                <a:latin typeface="Times New Roman"/>
              </a:rPr>
              <a:t>• Several training seeds and a stronger baseline (waypoint following)</a:t>
            </a:r>
          </a:p>
          <a:p>
            <a:pPr>
              <a:spcAft>
                <a:spcPts val="700"/>
              </a:spcAft>
              <a:defRPr sz="1600">
                <a:solidFill>
                  <a:srgbClr val="232323"/>
                </a:solidFill>
                <a:latin typeface="Times New Roman"/>
              </a:defRPr>
            </a:pPr>
            <a:r>
              <a:rPr sz="1600" lang="en-IN">
                <a:solidFill>
                  <a:srgbClr val="232323"/>
                </a:solidFill>
                <a:latin typeface="Times New Roman"/>
              </a:rPr>
              <a:t>• Spatial trajectory-fidelity measure; power–energy trade-off</a:t>
            </a:r>
          </a:p>
          <a:p>
            <a:pPr>
              <a:spcAft>
                <a:spcPts val="700"/>
              </a:spcAft>
              <a:defRPr sz="1600">
                <a:solidFill>
                  <a:srgbClr val="232323"/>
                </a:solidFill>
                <a:latin typeface="Times New Roman"/>
              </a:defRPr>
            </a:pPr>
            <a:r>
              <a:rPr sz="1600" lang="en-IN">
                <a:solidFill>
                  <a:srgbClr val="232323"/>
                </a:solidFill>
                <a:latin typeface="Times New Roman"/>
              </a:rPr>
              <a:t>• Dynamic obstacles, multiple UAVs, fading and interference</a:t>
            </a:r>
          </a:p>
          <a:p>
            <a:pPr>
              <a:spcAft>
                <a:spcPts val="700"/>
              </a:spcAft>
              <a:defRPr sz="1600">
                <a:solidFill>
                  <a:srgbClr val="232323"/>
                </a:solidFill>
                <a:latin typeface="Times New Roman"/>
              </a:defRPr>
            </a:pPr>
            <a:r>
              <a:rPr sz="1600" lang="en-IN">
                <a:solidFill>
                  <a:srgbClr val="232323"/>
                </a:solidFill>
                <a:latin typeface="Times New Roman"/>
              </a:rPr>
              <a:t>• Hardware validation (this work is simulation only)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481954" y="320040"/>
            <a:ext cx="719761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3200" b="1" dirty="0" smtClean="0">
                <a:solidFill>
                  <a:srgbClr val="183052"/>
                </a:solidFill>
                <a:latin typeface="Times New Roman"/>
              </a:rPr>
              <a:t>CONCLUSION AND FUTURE SCOPE</a:t>
            </a:r>
            <a:endParaRPr lang="en-IN" sz="3200" b="1" dirty="0">
              <a:solidFill>
                <a:srgbClr val="183052"/>
              </a:solidFill>
              <a:latin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600000"/>
            <a:ext cx="1051560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 sz="1800" lang="en-IN">
                <a:solidFill>
                  <a:srgbClr val="232323"/>
                </a:solidFill>
                <a:latin typeface="Times New Roman"/>
              </a:rPr>
              <a:t>• A PPO-based simulation framework has been implemented for joint UAV trajectory and communication control.</a:t>
            </a:r>
          </a:p>
          <a:p>
            <a:pPr>
              <a:spcAft>
                <a:spcPts val="9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 sz="1800" lang="en-IN">
                <a:solidFill>
                  <a:srgbClr val="232323"/>
                </a:solidFill>
                <a:latin typeface="Times New Roman"/>
              </a:rPr>
              <a:t>• After 300,000 training steps, PPO reached the goal in all 20 evaluation episodes (46 steps, final distance 4.85) with 0 collision attempts, 13.20 dB average SINR and communication fidelity 0.933.</a:t>
            </a:r>
          </a:p>
          <a:p>
            <a:pPr>
              <a:spcAft>
                <a:spcPts val="9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 sz="1800" lang="en-IN">
                <a:solidFill>
                  <a:srgbClr val="232323"/>
                </a:solidFill>
                <a:latin typeface="Times New Roman"/>
              </a:rPr>
              <a:t>• The straight-line greedy baseline was blocked by the first no-fly zone (0 % success, 151 rejected moves).</a:t>
            </a:r>
          </a:p>
          <a:p>
            <a:pPr>
              <a:spcAft>
                <a:spcPts val="9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 sz="1800" lang="en-IN">
                <a:solidFill>
                  <a:srgbClr val="232323"/>
                </a:solidFill>
                <a:latin typeface="Times New Roman"/>
              </a:rPr>
              <a:t>• Limitations: one fixed scenario (no generalization claim), low trajectory fidelity (0.125) and constant full transmit power.</a:t>
            </a:r>
          </a:p>
          <a:p>
            <a:pPr>
              <a:spcAft>
                <a:spcPts val="9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 sz="1800" lang="en-IN">
                <a:solidFill>
                  <a:srgbClr val="232323"/>
                </a:solidFill>
                <a:latin typeface="Times New Roman"/>
              </a:rPr>
              <a:t>• Future extensions: randomized scenarios, dynamic obstacles, realistic wireless channels, multiple UAVs and hardware validation.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06538" y="2644169"/>
            <a:ext cx="5613460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71556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696</TotalTime>
  <Words>591</Words>
  <Application>Microsoft Office PowerPoint</Application>
  <PresentationFormat>Widescreen</PresentationFormat>
  <Paragraphs>92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LUCKY</cp:lastModifiedBy>
  <cp:revision>8</cp:revision>
  <dcterms:created xsi:type="dcterms:W3CDTF">2013-01-27T09:14:16Z</dcterms:created>
  <dcterms:modified xsi:type="dcterms:W3CDTF">2026-09-29T07:02:37Z</dcterms:modified>
  <cp:category/>
</cp:coreProperties>
</file>