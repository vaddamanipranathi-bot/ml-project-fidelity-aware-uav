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0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CCA12-CAEB-4014-A213-7F748EB73A4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6A552-4202-4549-A167-B4A7869C6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995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6A552-4202-4549-A167-B4A7869C61A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44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667" y="359794"/>
            <a:ext cx="5799665" cy="16859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6365" y="2186783"/>
            <a:ext cx="78062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Times New Roman"/>
              </a:defRP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Department of Electronics &amp; Communication Engineering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63332" y="2794889"/>
            <a:ext cx="6096000" cy="377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25SC2107E - Machine </a:t>
            </a:r>
            <a:r>
              <a:rPr lang="en-I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Learning</a:t>
            </a: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Presentation </a:t>
            </a:r>
            <a:endParaRPr lang="en-I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B. </a:t>
            </a: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Sahithi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- 2520040111</a:t>
            </a: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V.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Pranathi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- 2520040104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Bhargavi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– 2520040048</a:t>
            </a: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100" b="0">
                <a:solidFill>
                  <a:srgbClr val="FFFFFF"/>
                </a:solidFill>
                <a:latin typeface="Times New Roman"/>
              </a:defRPr>
            </a:pP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Guide: N. Lava Prasad Sir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93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16000" y="2438886"/>
            <a:ext cx="101193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Times New Roman"/>
              </a:defRPr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Fidelity-Aware Safe Reinforcement Learning</a:t>
            </a:r>
            <a:b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UAV Trajectory and Communication Control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896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09139" y="370820"/>
            <a:ext cx="35734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 INTRODUCTION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20922"/>
            <a:ext cx="10515600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UAVs are widely used in surveillance, delivery, disaster management and wireless communication.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A UAV should reach its destination safely while maintaining reliable communication.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Shortest-path navigation alone may cause collisions, poor communication or unnecessary energy use.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Our project uses reinforcement learning to learn UAV movement and communication power </a:t>
            </a:r>
            <a:r>
              <a:rPr dirty="0" smtClean="0"/>
              <a:t>control</a:t>
            </a:r>
            <a:r>
              <a:rPr lang="en-IN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5114" y="381030"/>
            <a:ext cx="48814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PROBLEM STATEMENT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047" y="18389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The main problem is to control a UAV so that it can reach a target while balancing four requirements: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996696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Safe navigation — avoid obstacles and no-fly zones.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Target reaching — reduce the distance to the destination.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Reliable communication — maintain sufficient SINR and communication fidelity.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Energy efficiency — avoid unnecessary movement and communication power </a:t>
            </a:r>
            <a:r>
              <a:rPr dirty="0" smtClean="0"/>
              <a:t>consumption</a:t>
            </a:r>
            <a:r>
              <a:rPr lang="en-IN" dirty="0" smtClean="0"/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t>Therefore, the problem is treated as a multi-objective reinforcement learning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72713" y="360660"/>
            <a:ext cx="88462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PROPOSED METHODOLOGY / ALGORITHM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9527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PPO — Proximal Policy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43804"/>
            <a:ext cx="1024128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Observation: goal direction, user direction, distances, communication fidelity, energy, obstacle clearance and progress.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Action: X movement, Y movement and transmit power.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Reward: positive reward for goal progress, reaching the goal, communication quality and trajectory fidelity.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Penalties: unsafe movement, boundary violations, poor communication and energy use.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Safety mechanism: movement into a no-fly zone is </a:t>
            </a:r>
            <a:r>
              <a:rPr dirty="0" smtClean="0"/>
              <a:t>rejected</a:t>
            </a:r>
            <a:r>
              <a:rPr lang="en-IN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53621" y="338549"/>
            <a:ext cx="89628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PROJECT WORKFLOW / IMPLEMENTATION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16753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1508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Create UAV</a:t>
            </a:r>
            <a:br>
              <a:rPr sz="1600" dirty="0"/>
            </a:br>
            <a:r>
              <a:rPr sz="1600" dirty="0"/>
              <a:t>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9887" y="16193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2240280"/>
            <a:ext cx="1508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Define obstacles</a:t>
            </a:r>
            <a:br>
              <a:rPr sz="1600" dirty="0"/>
            </a:br>
            <a:r>
              <a:rPr sz="1600" dirty="0"/>
              <a:t>and safe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8" y="1600200"/>
            <a:ext cx="9601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240280"/>
            <a:ext cx="1508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Calculate SINR</a:t>
            </a:r>
            <a:br>
              <a:rPr sz="1600" dirty="0"/>
            </a:br>
            <a:r>
              <a:rPr sz="1600" dirty="0"/>
              <a:t>and fidelity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79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6696" y="16230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240280"/>
            <a:ext cx="1508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Train PPO</a:t>
            </a:r>
            <a:br>
              <a:rPr sz="1600" dirty="0"/>
            </a:br>
            <a:r>
              <a:rPr sz="1600" dirty="0"/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3447" y="16230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40280"/>
            <a:ext cx="1508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Evaluate learned</a:t>
            </a:r>
            <a:br>
              <a:rPr sz="1600" dirty="0"/>
            </a:br>
            <a:r>
              <a:rPr sz="1600" dirty="0"/>
              <a:t>trajectory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17830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F5F5F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6053" y="16193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052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240280"/>
            <a:ext cx="1508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  <a:latin typeface="Times New Roman"/>
              </a:defRPr>
            </a:pPr>
            <a:r>
              <a:rPr sz="1600" dirty="0"/>
              <a:t>Compare with</a:t>
            </a:r>
            <a:br>
              <a:rPr sz="1600" dirty="0"/>
            </a:br>
            <a:r>
              <a:rPr sz="1600" dirty="0"/>
              <a:t>Greedy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348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3052"/>
                </a:solidFill>
                <a:latin typeface="Times New Roman"/>
              </a:defRPr>
            </a:pPr>
            <a:r>
              <a:rPr dirty="0"/>
              <a:t>Tools: Python • Gymnasium • Stable-Baselines3 • PPO • </a:t>
            </a:r>
            <a:r>
              <a:rPr dirty="0" err="1"/>
              <a:t>NumPy</a:t>
            </a:r>
            <a:r>
              <a:rPr dirty="0"/>
              <a:t> • Pandas • </a:t>
            </a:r>
            <a:r>
              <a:rPr dirty="0" err="1"/>
              <a:t>Matplotlib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14400" y="4605166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323"/>
                </a:solidFill>
                <a:latin typeface="Times New Roman"/>
              </a:defRPr>
            </a:pPr>
            <a:r>
              <a:rPr dirty="0"/>
              <a:t>Training target: 100,000 </a:t>
            </a:r>
            <a:r>
              <a:rPr dirty="0" err="1"/>
              <a:t>timesteps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49189" y="338108"/>
            <a:ext cx="78933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SIMULATION / EXPERIMENTAL SETUP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74783"/>
            <a:ext cx="105156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2-D UAV simulation environment with a 100 × 100 map.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Start position: (10, 10); destination: (90, 90).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Multiple circular no-fly zones are included.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Ground user position is included for communication modelling.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The UAV controls movement and normalized transmit power.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Performance is evaluated using 20 test episodes and a Greedy baseline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93927" y="375345"/>
            <a:ext cx="84038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SIMULATION / EXPERIMENTAL RESULTS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Current recorded PPO evaluation from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Total / average reward: 348.32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Goal success rate: 0%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Final goal distance: 22.45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Average SINR: 13.03 dB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Communication fidelity: 0.932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Trajectory fidelity: 0.123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Collisions: 0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Boundary violations: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31247" y="283684"/>
            <a:ext cx="36990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OUTPUT GRAPHS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pic>
        <p:nvPicPr>
          <p:cNvPr id="4" name="Picture 3" descr="cell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440680" cy="2331720"/>
          </a:xfrm>
          <a:prstGeom prst="rect">
            <a:avLst/>
          </a:prstGeom>
        </p:spPr>
      </p:pic>
      <p:pic>
        <p:nvPicPr>
          <p:cNvPr id="5" name="Picture 4" descr="cell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440680" cy="2331720"/>
          </a:xfrm>
          <a:prstGeom prst="rect">
            <a:avLst/>
          </a:prstGeom>
        </p:spPr>
      </p:pic>
      <p:pic>
        <p:nvPicPr>
          <p:cNvPr id="6" name="Picture 5" descr="cell_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03320"/>
            <a:ext cx="5440680" cy="2331720"/>
          </a:xfrm>
          <a:prstGeom prst="rect">
            <a:avLst/>
          </a:prstGeom>
        </p:spPr>
      </p:pic>
      <p:pic>
        <p:nvPicPr>
          <p:cNvPr id="7" name="Picture 6" descr="cell_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3320"/>
            <a:ext cx="54406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35088" y="325408"/>
            <a:ext cx="95215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183052"/>
                </a:solidFill>
                <a:latin typeface="Times New Roman"/>
              </a:rPr>
              <a:t>CURRENT PROGRESS AND REMAINING WORK</a:t>
            </a:r>
            <a:endParaRPr lang="en-US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5417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18004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t>• UAV simulation environment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t>• Obstacle and safety handling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t>• Communication / SINR model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t>• Fidelity measures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t>• PPO training pipeline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t>• Evaluation and visualization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t>• Greedy baseline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316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3052"/>
                </a:solidFill>
                <a:latin typeface="Times New Roman"/>
              </a:defRPr>
            </a:pPr>
            <a:r>
              <a:rPr dirty="0"/>
              <a:t>Remaining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18004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Run the corrected notebook completely in </a:t>
            </a:r>
            <a:r>
              <a:rPr dirty="0" err="1"/>
              <a:t>Colab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Confirm improved goal-reaching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Record final 20-episode metrics.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Update the report and presentation with final outputs.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Prepare the final project demonstration.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81954" y="320040"/>
            <a:ext cx="71976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183052"/>
                </a:solidFill>
                <a:latin typeface="Times New Roman"/>
              </a:rPr>
              <a:t>CONCLUSION AND FUTURE SCOPE</a:t>
            </a:r>
            <a:endParaRPr lang="en-IN" sz="3200" b="1" dirty="0">
              <a:solidFill>
                <a:srgbClr val="183052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344087"/>
            <a:ext cx="105156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A PPO-based UAV control system was developed for trajectory and communication control.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The system considers safety, target reaching, communication fidelity and energy together.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A complete simulation, training and evaluation pipeline has been implemented.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Times New Roman"/>
              </a:defRPr>
            </a:pPr>
            <a:r>
              <a:rPr dirty="0"/>
              <a:t>• Future work includes dynamic obstacles, multiple UAVs, improved wireless channel models and </a:t>
            </a:r>
            <a:r>
              <a:rPr dirty="0" smtClean="0"/>
              <a:t>real-world</a:t>
            </a:r>
            <a:r>
              <a:rPr lang="en-IN" dirty="0" smtClean="0"/>
              <a:t> testing. 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6538" y="2644169"/>
            <a:ext cx="561346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71556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590</Words>
  <Application>Microsoft Office PowerPoint</Application>
  <PresentationFormat>Widescreen</PresentationFormat>
  <Paragraphs>92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LUCKY</cp:lastModifiedBy>
  <cp:revision>5</cp:revision>
  <dcterms:created xsi:type="dcterms:W3CDTF">2013-01-27T09:14:16Z</dcterms:created>
  <dcterms:modified xsi:type="dcterms:W3CDTF">2026-09-28T15:20:34Z</dcterms:modified>
  <cp:category/>
</cp:coreProperties>
</file>